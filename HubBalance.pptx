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400000" cx="9600000"/>
  <p:notesSz cx="6858000" cy="9144000"/>
  <p:embeddedFontLst>
    <p:embeddedFont>
      <p:font typeface="Amatic SC"/>
      <p:regular r:id="rId17"/>
      <p:bold r:id="rId18"/>
    </p:embeddedFont>
    <p:embeddedFont>
      <p:font typeface="Source Code Pro"/>
      <p:regular r:id="rId19"/>
      <p:bold r:id="rId20"/>
      <p:italic r:id="rId21"/>
      <p:boldItalic r:id="rId22"/>
    </p:embeddedFont>
    <p:embeddedFont>
      <p:font typeface="Quattrocento Sans"/>
      <p:regular r:id="rId23"/>
      <p:bold r:id="rId24"/>
      <p:italic r:id="rId25"/>
      <p:boldItalic r:id="rId26"/>
    </p:embeddedFon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22" Type="http://schemas.openxmlformats.org/officeDocument/2006/relationships/font" Target="fonts/SourceCodePro-boldItalic.fntdata"/><Relationship Id="rId21" Type="http://schemas.openxmlformats.org/officeDocument/2006/relationships/font" Target="fonts/SourceCodePro-italic.fntdata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regular.fntdata"/><Relationship Id="rId16" Type="http://schemas.openxmlformats.org/officeDocument/2006/relationships/slide" Target="slides/slide11.xml"/><Relationship Id="rId19" Type="http://schemas.openxmlformats.org/officeDocument/2006/relationships/font" Target="fonts/SourceCodePro-regular.fntdata"/><Relationship Id="rId18" Type="http://schemas.openxmlformats.org/officeDocument/2006/relationships/font" Target="fonts/AmaticSC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600000" cy="360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5975" lIns="95975" spcFirstLastPara="1" rIns="95975" wrap="square" tIns="95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27244" y="411706"/>
            <a:ext cx="8945400" cy="28245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27244" y="4084409"/>
            <a:ext cx="8945400" cy="7413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b="1" sz="2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942520" y="842520"/>
            <a:ext cx="3714900" cy="37149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5975" lIns="95975" spcFirstLastPara="1" rIns="95975" wrap="square" tIns="95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27244" y="307454"/>
            <a:ext cx="8945400" cy="8409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27244" y="1289948"/>
            <a:ext cx="8945400" cy="35067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27244" y="307454"/>
            <a:ext cx="8945400" cy="8409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27244" y="1289948"/>
            <a:ext cx="4199400" cy="35067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5073386" y="1289948"/>
            <a:ext cx="4199400" cy="35067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20000" y="324777"/>
            <a:ext cx="8963400" cy="7854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27244" y="583307"/>
            <a:ext cx="2948100" cy="793500"/>
          </a:xfrm>
          <a:prstGeom prst="rect">
            <a:avLst/>
          </a:prstGeom>
        </p:spPr>
        <p:txBody>
          <a:bodyPr anchorCtr="0" anchor="b" bIns="95975" lIns="95975" spcFirstLastPara="1" rIns="95975" wrap="square" tIns="95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 sz="31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27244" y="1458898"/>
            <a:ext cx="2948100" cy="33381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14698" y="552598"/>
            <a:ext cx="5898900" cy="42948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None/>
              <a:defRPr sz="6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800000" y="-26"/>
            <a:ext cx="4800000" cy="540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5975" lIns="95975" spcFirstLastPara="1" rIns="95975" wrap="square" tIns="95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280499" y="4719685"/>
            <a:ext cx="491700" cy="0"/>
          </a:xfrm>
          <a:prstGeom prst="straightConnector1">
            <a:avLst/>
          </a:prstGeom>
          <a:noFill/>
          <a:ln cap="flat" cmpd="sng" w="3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78740" y="1135328"/>
            <a:ext cx="4246800" cy="1795500"/>
          </a:xfrm>
          <a:prstGeom prst="rect">
            <a:avLst/>
          </a:prstGeom>
        </p:spPr>
        <p:txBody>
          <a:bodyPr anchorCtr="0" anchor="b" bIns="95975" lIns="95975" spcFirstLastPara="1" rIns="95975" wrap="square" tIns="95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78740" y="2987111"/>
            <a:ext cx="4246800" cy="14127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5185827" y="760315"/>
            <a:ext cx="4028400" cy="38793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35433" y="4441549"/>
            <a:ext cx="6297900" cy="6288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matic SC"/>
              <a:buNone/>
              <a:defRPr b="1" sz="25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27244" y="1302126"/>
            <a:ext cx="8945400" cy="2080500"/>
          </a:xfrm>
          <a:prstGeom prst="rect">
            <a:avLst/>
          </a:prstGeom>
        </p:spPr>
        <p:txBody>
          <a:bodyPr anchorCtr="0" anchor="b" bIns="95975" lIns="95975" spcFirstLastPara="1" rIns="95975" wrap="square" tIns="95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0"/>
              <a:buNone/>
              <a:defRPr sz="126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27244" y="3469423"/>
            <a:ext cx="8945400" cy="13656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>
            <a:lvl1pPr indent="-34925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</p:spPr>
        <p:txBody>
          <a:bodyPr anchorCtr="0" anchor="ctr" bIns="95975" lIns="95975" spcFirstLastPara="1" rIns="95975" wrap="square" tIns="95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7244" y="307454"/>
            <a:ext cx="89454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5975" lIns="95975" spcFirstLastPara="1" rIns="95975" wrap="square" tIns="95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matic SC"/>
              <a:buNone/>
              <a:defRPr b="1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7244" y="1289948"/>
            <a:ext cx="8945400" cy="3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5975" lIns="95975" spcFirstLastPara="1" rIns="95975" wrap="square" tIns="95975">
            <a:norm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○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■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○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■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●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○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Char char="■"/>
              <a:defRPr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94969" y="4895766"/>
            <a:ext cx="57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975" lIns="95975" spcFirstLastPara="1" rIns="95975" wrap="square" tIns="9597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50" y="0"/>
            <a:ext cx="9600000" cy="5439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lang="en-US" sz="37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lang="en-US" sz="3700">
                <a:solidFill>
                  <a:srgbClr val="4A86E8"/>
                </a:solidFill>
                <a:latin typeface="Arial Black"/>
                <a:ea typeface="Arial Black"/>
                <a:cs typeface="Arial Black"/>
                <a:sym typeface="Arial Black"/>
              </a:rPr>
              <a:t>HubBalance</a:t>
            </a:r>
            <a:endParaRPr b="1" sz="3700">
              <a:solidFill>
                <a:srgbClr val="4A86E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A86E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 Demand Forecasting for Boston Bluebikes</a:t>
            </a:r>
            <a:endParaRPr i="1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Predicting Bike Availability + Optimizing Fleet Rebalancing</a:t>
            </a:r>
            <a:endParaRPr sz="15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ctr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ctr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 5100 | Vaishali Singh</a:t>
            </a:r>
            <a:endParaRPr sz="15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57200" y="7085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31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Rebalancing Challenge</a:t>
            </a:r>
            <a:endParaRPr sz="4700">
              <a:solidFill>
                <a:srgbClr val="4A86E8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538050" y="2231700"/>
            <a:ext cx="8067900" cy="23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Peak Hour Shortage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Overflow at Base Stations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130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Reality: ~200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ad-hoc truck trips/week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96450" y="127850"/>
            <a:ext cx="9192900" cy="5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57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</a:t>
            </a:r>
            <a:endParaRPr b="1" sz="3400">
              <a:solidFill>
                <a:srgbClr val="4A86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                        1-Hour to 1-Day Forecast Heads-up</a:t>
            </a:r>
            <a:endParaRPr i="1" sz="17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                     </a:t>
            </a:r>
            <a:r>
              <a:rPr b="1" lang="en-US" sz="25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Demand Forecasts</a:t>
            </a:r>
            <a:endParaRPr b="1" sz="1600">
              <a:solidFill>
                <a:srgbClr val="4A86E8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Pickups &amp; drop-offs per station per hour</a:t>
            </a:r>
            <a:endParaRPr sz="800">
              <a:solidFill>
                <a:schemeClr val="lt1"/>
              </a:solidFill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                       Risk Flags</a:t>
            </a:r>
            <a:endParaRPr b="1" sz="2500">
              <a:solidFill>
                <a:srgbClr val="4A86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Empty/overflow predictions</a:t>
            </a:r>
            <a:endParaRPr sz="17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Truck Priorities</a:t>
            </a:r>
            <a:endParaRPr b="1" sz="2500">
              <a:solidFill>
                <a:srgbClr val="4A86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Ranked top-20 rebalancing targets</a:t>
            </a:r>
            <a:endParaRPr sz="17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730325" y="65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 Open Feeds → One Unified Table</a:t>
            </a:r>
            <a:endParaRPr sz="3400">
              <a:solidFill>
                <a:srgbClr val="4A86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-100800" y="1301050"/>
            <a:ext cx="93456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Bluebikes Trip </a:t>
            </a: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Logs:</a:t>
            </a:r>
            <a:r>
              <a:rPr lang="en-US" sz="26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years of historical data</a:t>
            </a:r>
            <a:endParaRPr sz="1700">
              <a:solidFill>
                <a:schemeClr val="lt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🚲 Real-time </a:t>
            </a: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GBFS:</a:t>
            </a:r>
            <a:r>
              <a:rPr lang="en-US" sz="26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1-minute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dock count updates</a:t>
            </a:r>
            <a:endParaRPr sz="1700">
              <a:solidFill>
                <a:schemeClr val="lt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🌦️</a:t>
            </a: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Weather </a:t>
            </a: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Forecasts: 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NWS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temperature, precipitation, wind</a:t>
            </a:r>
            <a:endParaRPr sz="1700">
              <a:solidFill>
                <a:schemeClr val="lt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🚇 MBTA </a:t>
            </a:r>
            <a:r>
              <a:rPr b="1" lang="en-US" sz="26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Feeds:</a:t>
            </a:r>
            <a:r>
              <a:rPr lang="en-US" sz="26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Transit</a:t>
            </a:r>
            <a:r>
              <a:rPr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headways &amp; special events</a:t>
            </a:r>
            <a:endParaRPr sz="2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l">
              <a:lnSpc>
                <a:spcPct val="10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E1E1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l">
              <a:lnSpc>
                <a:spcPct val="10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Unified station×hour table updated every 5 minutes</a:t>
            </a:r>
            <a:endParaRPr sz="1500">
              <a:solidFill>
                <a:schemeClr val="lt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560"/>
              </a:spcBef>
              <a:spcAft>
                <a:spcPts val="130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(Demo: 1.8M synthetic rows/month)</a:t>
            </a:r>
            <a:endParaRPr sz="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685200" y="151976"/>
            <a:ext cx="82296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31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Are We Predicting?</a:t>
            </a:r>
            <a:endParaRPr sz="4700">
              <a:solidFill>
                <a:srgbClr val="4A86E8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685200" y="1069599"/>
            <a:ext cx="8229600" cy="41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① Pickups</a:t>
            </a:r>
            <a:endParaRPr b="1">
              <a:solidFill>
                <a:srgbClr val="4A86E8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Bikes picked up in next 60 minutes</a:t>
            </a:r>
            <a:endParaRPr sz="1800">
              <a:solidFill>
                <a:schemeClr val="lt1"/>
              </a:solidFill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② Drop-offs</a:t>
            </a:r>
            <a:endParaRPr b="1" sz="2800">
              <a:solidFill>
                <a:srgbClr val="4A86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Bikes returned in next 60 minutes</a:t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③ Risk Flags</a:t>
            </a:r>
            <a:endParaRPr b="1" sz="2800">
              <a:solidFill>
                <a:srgbClr val="4A86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Will it be empty/full?</a:t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130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Output: Ranked</a:t>
            </a:r>
            <a:r>
              <a:rPr b="1" lang="en-US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top-20 stations needing truck visits (SHAP-driven)</a:t>
            </a:r>
            <a:endParaRPr b="1" sz="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1219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29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</a:t>
            </a:r>
            <a:endParaRPr sz="4500">
              <a:solidFill>
                <a:srgbClr val="4A86E8"/>
              </a:solidFill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045950" y="1264973"/>
            <a:ext cx="7052100" cy="3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800"/>
              <a:buChar char="●"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Time:</a:t>
            </a:r>
            <a:r>
              <a:rPr lang="en-US" sz="28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hour,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weekend, month, sin/cos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4A86E8"/>
              </a:buClr>
              <a:buSzPts val="2800"/>
              <a:buChar char="●"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Weather:</a:t>
            </a:r>
            <a:r>
              <a:rPr lang="en-US" sz="28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temp,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precip, wind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4A86E8"/>
              </a:buClr>
              <a:buSzPts val="2800"/>
              <a:buChar char="●"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Transit:</a:t>
            </a:r>
            <a:r>
              <a:rPr lang="en-US" sz="28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MBTA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headways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4A86E8"/>
              </a:buClr>
              <a:buSzPts val="2800"/>
              <a:buChar char="●"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Lagged:</a:t>
            </a:r>
            <a:r>
              <a:rPr lang="en-US" sz="28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1h,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3h, 6h flows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1300"/>
              </a:spcAft>
              <a:buClr>
                <a:srgbClr val="4A86E8"/>
              </a:buClr>
              <a:buSzPts val="2800"/>
              <a:buChar char="●"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Location:</a:t>
            </a:r>
            <a:r>
              <a:rPr lang="en-US" sz="28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Station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&amp; neighborhood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870025" y="351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30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Simple to Smart</a:t>
            </a:r>
            <a:endParaRPr sz="4600">
              <a:solidFill>
                <a:srgbClr val="4A86E8"/>
              </a:solidFill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944700" y="1743750"/>
            <a:ext cx="7710600" cy="3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9DA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1</a:t>
            </a:r>
            <a:endParaRPr>
              <a:solidFill>
                <a:srgbClr val="C9DAF8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Last</a:t>
            </a:r>
            <a:r>
              <a:rPr lang="en-US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-hour</a:t>
            </a:r>
            <a:r>
              <a:rPr lang="en-US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persistence</a:t>
            </a:r>
            <a:endParaRPr sz="1000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9DA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2</a:t>
            </a:r>
            <a:endParaRPr/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Weekday/hour median</a:t>
            </a:r>
            <a:endParaRPr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Choice</a:t>
            </a:r>
            <a:endParaRPr b="1">
              <a:solidFill>
                <a:srgbClr val="4A86E8"/>
              </a:solidFill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LightGBM + Lags + Weather</a:t>
            </a:r>
            <a:endParaRPr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Results: 18%</a:t>
            </a:r>
            <a:r>
              <a:rPr b="1" lang="en-US" sz="13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improvement in MAE over baselines</a:t>
            </a:r>
            <a:endParaRPr b="1" sz="400">
              <a:solidFill>
                <a:schemeClr val="lt1"/>
              </a:solidFill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Trains in ~5 min on laptop (synthetic data)</a:t>
            </a:r>
            <a:endParaRPr b="1" sz="7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685200" y="81796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Send a Truck?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196425" y="706425"/>
            <a:ext cx="92250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SHAP TreeExplainer - Feature Drivers</a:t>
            </a:r>
            <a:endParaRPr b="1">
              <a:solidFill>
                <a:srgbClr val="4A86E8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↑ Raises Risk</a:t>
            </a:r>
            <a:endParaRPr>
              <a:solidFill>
                <a:srgbClr val="FF0000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36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Recent bikes: 0.43</a:t>
            </a:r>
            <a:endParaRPr sz="1468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36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Dropoffs lag: 0.31</a:t>
            </a:r>
            <a:endParaRPr sz="236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36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 speed: 0.27</a:t>
            </a:r>
            <a:endParaRPr sz="236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AA8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 Lowers Risk</a:t>
            </a:r>
            <a:endParaRPr>
              <a:solidFill>
                <a:srgbClr val="6AA84F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36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311 activity: -0.25</a:t>
            </a:r>
            <a:endParaRPr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36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MBTA headway: -0.20</a:t>
            </a:r>
            <a:endParaRPr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36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Temperature: +0.22</a:t>
            </a:r>
            <a:endParaRPr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22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Example: "Recent low bikes + high dropoffs lag + evening peak"</a:t>
            </a:r>
            <a:endParaRPr sz="1321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1300"/>
              </a:spcAft>
              <a:buNone/>
            </a:pPr>
            <a:r>
              <a:rPr lang="en-US" sz="222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92% stockout risk detected; truck sent to JP Centre</a:t>
            </a:r>
            <a:endParaRPr sz="132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723750" y="81798"/>
            <a:ext cx="8229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29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Results from Notebook</a:t>
            </a:r>
            <a:endParaRPr sz="4500">
              <a:solidFill>
                <a:srgbClr val="4A86E8"/>
              </a:solidFill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67400" y="883150"/>
            <a:ext cx="93423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9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1.4</a:t>
            </a:r>
            <a:endParaRPr b="1" sz="2990">
              <a:solidFill>
                <a:srgbClr val="4A86E8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3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MAE (bikes/hour)</a:t>
            </a:r>
            <a:endParaRPr sz="1536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254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46% vs 2.6 baseline</a:t>
            </a:r>
            <a:endParaRPr sz="1354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389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0.86</a:t>
            </a:r>
            <a:endParaRPr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3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ROC-AUC</a:t>
            </a:r>
            <a:endParaRPr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254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Stockout detection</a:t>
            </a:r>
            <a:endParaRPr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389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Neighborhood Breakdown (Top 5)</a:t>
            </a:r>
            <a:endParaRPr/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3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Jamaica Plain: 1.58 MAE</a:t>
            </a:r>
            <a:endParaRPr sz="2436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3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Allston: 1.65 MAE</a:t>
            </a:r>
            <a:endParaRPr sz="2436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3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Dorchester: 1.72 MAE</a:t>
            </a:r>
            <a:endParaRPr sz="2436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3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Roxbury: 1.72 MAE</a:t>
            </a:r>
            <a:endParaRPr sz="2436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3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 District: 2.59 MAE</a:t>
            </a:r>
            <a:endParaRPr sz="2436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36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rtl="0" algn="ctr">
              <a:spcBef>
                <a:spcPts val="560"/>
              </a:spcBef>
              <a:spcAft>
                <a:spcPts val="1300"/>
              </a:spcAft>
              <a:buNone/>
            </a:pPr>
            <a:r>
              <a:rPr b="1" lang="en-US" sz="1679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Train: 8,004 rows • Test: 2,004 rows • Features: 56 engineered</a:t>
            </a:r>
            <a:endParaRPr b="1" sz="7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85200" y="94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33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Pilot to Production</a:t>
            </a:r>
            <a:endParaRPr sz="4900">
              <a:solidFill>
                <a:srgbClr val="4A86E8"/>
              </a:solidFill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211650" y="1862100"/>
            <a:ext cx="9176700" cy="26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16865" lvl="0" marL="3429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390"/>
              <a:buChar char="●"/>
            </a:pPr>
            <a:r>
              <a:rPr b="1" lang="en-US" sz="229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Auto-Retraining: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Airflow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+ rolling-origin cross-validation</a:t>
            </a:r>
            <a:endParaRPr sz="1557">
              <a:solidFill>
                <a:schemeClr val="lt1"/>
              </a:solidFill>
            </a:endParaRPr>
          </a:p>
          <a:p>
            <a:pPr indent="-316865" lvl="0" marL="342900" rtl="0" algn="l">
              <a:spcBef>
                <a:spcPts val="560"/>
              </a:spcBef>
              <a:spcAft>
                <a:spcPts val="0"/>
              </a:spcAft>
              <a:buClr>
                <a:srgbClr val="4A86E8"/>
              </a:buClr>
              <a:buSzPts val="2390"/>
              <a:buChar char="●"/>
            </a:pPr>
            <a:r>
              <a:rPr b="1" lang="en-US" sz="229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Integration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Push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alerts to city truck tablets with rationales</a:t>
            </a:r>
            <a:endParaRPr sz="1557">
              <a:solidFill>
                <a:schemeClr val="lt1"/>
              </a:solidFill>
            </a:endParaRPr>
          </a:p>
          <a:p>
            <a:pPr indent="-316865" lvl="0" marL="342900" rtl="0" algn="l">
              <a:spcBef>
                <a:spcPts val="560"/>
              </a:spcBef>
              <a:spcAft>
                <a:spcPts val="0"/>
              </a:spcAft>
              <a:buClr>
                <a:srgbClr val="4A86E8"/>
              </a:buClr>
              <a:buSzPts val="2390"/>
              <a:buChar char="●"/>
            </a:pPr>
            <a:r>
              <a:rPr b="1" lang="en-US" sz="229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Source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Release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cleaned feature store + synthetic demo</a:t>
            </a:r>
            <a:endParaRPr sz="1557">
              <a:solidFill>
                <a:schemeClr val="lt1"/>
              </a:solidFill>
            </a:endParaRPr>
          </a:p>
          <a:p>
            <a:pPr indent="-316865" lvl="0" marL="342900" rtl="0" algn="l">
              <a:spcBef>
                <a:spcPts val="560"/>
              </a:spcBef>
              <a:spcAft>
                <a:spcPts val="1300"/>
              </a:spcAft>
              <a:buClr>
                <a:srgbClr val="4A86E8"/>
              </a:buClr>
              <a:buSzPts val="2390"/>
              <a:buChar char="●"/>
            </a:pPr>
            <a:r>
              <a:rPr b="1" lang="en-US" sz="229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FastAPI/Swagger</a:t>
            </a:r>
            <a:r>
              <a:rPr lang="en-US" sz="239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dispatch system integration</a:t>
            </a:r>
            <a:endParaRPr sz="155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1561700" y="1697700"/>
            <a:ext cx="6540900" cy="20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300"/>
              </a:spcAft>
              <a:buClr>
                <a:srgbClr val="1E1E1E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Let's Make</a:t>
            </a:r>
            <a:r>
              <a:rPr b="1"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 sz="2800">
                <a:solidFill>
                  <a:srgbClr val="4A86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BlueBikes</a:t>
            </a:r>
            <a:r>
              <a:rPr lang="en-US" sz="2800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Smarter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